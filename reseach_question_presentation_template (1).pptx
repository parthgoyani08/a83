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
  </p:notesMasterIdLst>
  <p:handoutMasterIdLst>
    <p:handoutMasterId r:id="rId11"/>
  </p:handoutMasterIdLst>
  <p:sldIdLst>
    <p:sldId id="289" r:id="rId5"/>
    <p:sldId id="340" r:id="rId6"/>
    <p:sldId id="329" r:id="rId7"/>
    <p:sldId id="336" r:id="rId8"/>
    <p:sldId id="34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B1EB13-4B4A-3A65-7705-B39B10420BC6}" v="11" dt="2025-11-07T13:21:13.889"/>
    <p1510:client id="{94404E7A-4EB2-D0DE-A758-3B2FEF7E6025}" v="1178" dt="2025-11-07T14:31:40.7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25/11/2025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25/11/2025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39394292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a:xfrm>
            <a:off x="953999" y="2579715"/>
            <a:ext cx="10031157" cy="2464234"/>
          </a:xfrm>
        </p:spPr>
        <p:txBody>
          <a:bodyPr>
            <a:normAutofit fontScale="90000"/>
          </a:bodyPr>
          <a:lstStyle/>
          <a:p>
            <a:pPr>
              <a:lnSpc>
                <a:spcPct val="100000"/>
              </a:lnSpc>
            </a:pPr>
            <a:r>
              <a:rPr lang="en-US" dirty="0">
                <a:latin typeface="Calibri" panose="020F0502020204030204" pitchFamily="34" charset="0"/>
                <a:ea typeface="Calibri" panose="020F0502020204030204" pitchFamily="34" charset="0"/>
                <a:cs typeface="Calibri" panose="020F0502020204030204" pitchFamily="34" charset="0"/>
              </a:rPr>
              <a:t>Research Question – </a:t>
            </a:r>
            <a:br>
              <a:rPr lang="en-US" dirty="0">
                <a:latin typeface="Calibri" panose="020F0502020204030204" pitchFamily="34" charset="0"/>
                <a:ea typeface="Calibri" panose="020F0502020204030204" pitchFamily="34" charset="0"/>
                <a:cs typeface="Calibri" panose="020F0502020204030204" pitchFamily="34" charset="0"/>
              </a:rPr>
            </a:br>
            <a:r>
              <a:rPr lang="en-IN" sz="5300" b="0" dirty="0">
                <a:latin typeface="Calibri" panose="020F0502020204030204" pitchFamily="34" charset="0"/>
                <a:ea typeface="Calibri" panose="020F0502020204030204" pitchFamily="34" charset="0"/>
                <a:cs typeface="Calibri" panose="020F0502020204030204" pitchFamily="34" charset="0"/>
              </a:rPr>
              <a:t>Monthly Food Price Inflation</a:t>
            </a:r>
            <a:br>
              <a:rPr lang="en-US" sz="4000" b="0" dirty="0">
                <a:latin typeface="Calibri" panose="020F0502020204030204" pitchFamily="34" charset="0"/>
                <a:ea typeface="Calibri" panose="020F0502020204030204" pitchFamily="34" charset="0"/>
                <a:cs typeface="Calibri" panose="020F0502020204030204" pitchFamily="34" charset="0"/>
              </a:rPr>
            </a:br>
            <a:r>
              <a:rPr lang="en-US" sz="2200" b="0" dirty="0">
                <a:latin typeface="Calibri" panose="020F0502020204030204" pitchFamily="34" charset="0"/>
                <a:ea typeface="Calibri" panose="020F0502020204030204" pitchFamily="34" charset="0"/>
                <a:cs typeface="Calibri" panose="020F0502020204030204" pitchFamily="34" charset="0"/>
              </a:rPr>
              <a:t>Date:  26 November 2025</a:t>
            </a:r>
            <a:br>
              <a:rPr lang="en-US" sz="8000" dirty="0">
                <a:latin typeface="Calibri" panose="020F0502020204030204" pitchFamily="34" charset="0"/>
                <a:ea typeface="Calibri" panose="020F0502020204030204" pitchFamily="34" charset="0"/>
                <a:cs typeface="Calibri" panose="020F0502020204030204" pitchFamily="34" charset="0"/>
              </a:rPr>
            </a:b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a:xfrm>
            <a:off x="953999" y="1890000"/>
            <a:ext cx="10746387" cy="360000"/>
          </a:xfrm>
        </p:spPr>
        <p:txBody>
          <a:bodyPr/>
          <a:lstStyle/>
          <a:p>
            <a:r>
              <a:rPr lang="en-US" sz="2000" dirty="0">
                <a:latin typeface="Calibri" panose="020F0502020204030204" pitchFamily="34" charset="0"/>
                <a:ea typeface="Calibri" panose="020F0502020204030204" pitchFamily="34" charset="0"/>
                <a:cs typeface="Calibri" panose="020F0502020204030204" pitchFamily="34" charset="0"/>
              </a:rPr>
              <a:t>Group Name:  Group A </a:t>
            </a:r>
            <a:r>
              <a:rPr lang="en-US" sz="2000">
                <a:latin typeface="Calibri" panose="020F0502020204030204" pitchFamily="34" charset="0"/>
                <a:ea typeface="Calibri" panose="020F0502020204030204" pitchFamily="34" charset="0"/>
                <a:cs typeface="Calibri" panose="020F0502020204030204" pitchFamily="34" charset="0"/>
              </a:rPr>
              <a:t>83                                                                                   Name </a:t>
            </a:r>
            <a:r>
              <a:rPr lang="en-US" sz="2000" dirty="0">
                <a:latin typeface="Calibri" panose="020F0502020204030204" pitchFamily="34" charset="0"/>
                <a:ea typeface="Calibri" panose="020F0502020204030204" pitchFamily="34" charset="0"/>
                <a:cs typeface="Calibri" panose="020F0502020204030204" pitchFamily="34" charset="0"/>
              </a:rPr>
              <a:t>of Student Presenting:</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1426661"/>
          </a:xfrm>
        </p:spPr>
        <p:txBody>
          <a:bodyPr/>
          <a:lstStyle/>
          <a:p>
            <a:r>
              <a:rPr lang="en-GB" dirty="0">
                <a:latin typeface="Calibri" panose="020F0502020204030204" pitchFamily="34" charset="0"/>
                <a:ea typeface="Calibri" panose="020F0502020204030204" pitchFamily="34" charset="0"/>
                <a:cs typeface="Calibri" panose="020F0502020204030204" pitchFamily="34" charset="0"/>
              </a:rPr>
              <a:t>7COM1079-2025  Student Group No: A 83                                                                        Names of Student Attendees: Swayam Prajapati</a:t>
            </a:r>
            <a:br>
              <a:rPr lang="en-GB" dirty="0">
                <a:latin typeface="Calibri" panose="020F0502020204030204" pitchFamily="34" charset="0"/>
                <a:ea typeface="Calibri" panose="020F0502020204030204" pitchFamily="34" charset="0"/>
                <a:cs typeface="Calibri" panose="020F0502020204030204" pitchFamily="34" charset="0"/>
              </a:rPr>
            </a:br>
            <a:r>
              <a:rPr lang="en-GB" dirty="0">
                <a:latin typeface="Calibri" panose="020F0502020204030204" pitchFamily="34" charset="0"/>
                <a:ea typeface="Calibri" panose="020F0502020204030204" pitchFamily="34" charset="0"/>
                <a:cs typeface="Calibri" panose="020F0502020204030204" pitchFamily="34" charset="0"/>
              </a:rPr>
              <a:t>                                                                                                                                                                                                         Parth </a:t>
            </a:r>
            <a:r>
              <a:rPr lang="en-GB" dirty="0" err="1">
                <a:latin typeface="Calibri" panose="020F0502020204030204" pitchFamily="34" charset="0"/>
                <a:ea typeface="Calibri" panose="020F0502020204030204" pitchFamily="34" charset="0"/>
                <a:cs typeface="Calibri" panose="020F0502020204030204" pitchFamily="34" charset="0"/>
              </a:rPr>
              <a:t>Goyani</a:t>
            </a:r>
            <a:endParaRPr lang="en-GB" dirty="0">
              <a:latin typeface="Calibri" panose="020F0502020204030204" pitchFamily="34" charset="0"/>
              <a:ea typeface="Calibri" panose="020F0502020204030204" pitchFamily="34" charset="0"/>
              <a:cs typeface="Calibri" panose="020F0502020204030204" pitchFamily="34" charset="0"/>
            </a:endParaRPr>
          </a:p>
          <a:p>
            <a:r>
              <a:rPr lang="en-GB" dirty="0">
                <a:latin typeface="Calibri" panose="020F0502020204030204" pitchFamily="34" charset="0"/>
                <a:ea typeface="Calibri" panose="020F0502020204030204" pitchFamily="34" charset="0"/>
                <a:cs typeface="Calibri" panose="020F0502020204030204" pitchFamily="34" charset="0"/>
              </a:rPr>
              <a:t>                                                                                                                                                                                                         Ram </a:t>
            </a:r>
            <a:r>
              <a:rPr lang="en-GB" dirty="0" err="1">
                <a:latin typeface="Calibri" panose="020F0502020204030204" pitchFamily="34" charset="0"/>
                <a:ea typeface="Calibri" panose="020F0502020204030204" pitchFamily="34" charset="0"/>
                <a:cs typeface="Calibri" panose="020F0502020204030204" pitchFamily="34" charset="0"/>
              </a:rPr>
              <a:t>Nadoda</a:t>
            </a:r>
            <a:endParaRPr lang="en-GB" dirty="0">
              <a:latin typeface="Calibri" panose="020F0502020204030204" pitchFamily="34" charset="0"/>
              <a:ea typeface="Calibri" panose="020F0502020204030204" pitchFamily="34" charset="0"/>
              <a:cs typeface="Calibri" panose="020F0502020204030204" pitchFamily="34" charset="0"/>
            </a:endParaRPr>
          </a:p>
          <a:p>
            <a:r>
              <a:rPr lang="en-GB" dirty="0">
                <a:latin typeface="Calibri" panose="020F0502020204030204" pitchFamily="34" charset="0"/>
                <a:ea typeface="Calibri" panose="020F0502020204030204" pitchFamily="34" charset="0"/>
                <a:cs typeface="Calibri" panose="020F0502020204030204" pitchFamily="34" charset="0"/>
              </a:rPr>
              <a:t>                                                                                                                                                                                                         Mahi Patel</a:t>
            </a:r>
          </a:p>
          <a:p>
            <a:r>
              <a:rPr lang="en-GB" dirty="0">
                <a:latin typeface="Calibri" panose="020F0502020204030204" pitchFamily="34" charset="0"/>
                <a:ea typeface="Calibri" panose="020F0502020204030204" pitchFamily="34" charset="0"/>
                <a:cs typeface="Calibri" panose="020F0502020204030204" pitchFamily="34" charset="0"/>
              </a:rPr>
              <a:t>                                                                                                                                                                                                         Karan Mori</a:t>
            </a:r>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vert="horz" lIns="0" tIns="0" rIns="0" bIns="0" rtlCol="0" anchor="t">
            <a:noAutofit/>
          </a:bodyPr>
          <a:lstStyle/>
          <a:p>
            <a:pPr>
              <a:spcAft>
                <a:spcPts val="0"/>
              </a:spcAft>
            </a:pPr>
            <a:r>
              <a:rPr lang="en-GB" dirty="0">
                <a:solidFill>
                  <a:srgbClr val="203232"/>
                </a:solidFill>
                <a:latin typeface="Calibri" panose="020F0502020204030204" pitchFamily="34" charset="0"/>
                <a:ea typeface="Calibri" panose="020F0502020204030204" pitchFamily="34" charset="0"/>
                <a:cs typeface="Calibri" panose="020F0502020204030204" pitchFamily="34" charset="0"/>
              </a:rPr>
              <a:t>Here is a sample of our dataset: </a:t>
            </a:r>
            <a:endParaRPr lang="en-GB" sz="18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a:xfrm>
            <a:off x="965289" y="507561"/>
            <a:ext cx="7176911" cy="230832"/>
          </a:xfrm>
        </p:spPr>
        <p:txBody>
          <a:bodyPr/>
          <a:lstStyle/>
          <a:p>
            <a:r>
              <a:rPr lang="en-GB" dirty="0">
                <a:latin typeface="Calibri" panose="020F0502020204030204" pitchFamily="34" charset="0"/>
                <a:ea typeface="Calibri" panose="020F0502020204030204" pitchFamily="34" charset="0"/>
                <a:cs typeface="Calibri" panose="020F0502020204030204" pitchFamily="34" charset="0"/>
              </a:rPr>
              <a:t>PRE 7COM1079-2025  Student Group No:  A 83</a:t>
            </a:r>
          </a:p>
        </p:txBody>
      </p:sp>
      <p:sp>
        <p:nvSpPr>
          <p:cNvPr id="11" name="TextBox 10">
            <a:extLst>
              <a:ext uri="{FF2B5EF4-FFF2-40B4-BE49-F238E27FC236}">
                <a16:creationId xmlns:a16="http://schemas.microsoft.com/office/drawing/2014/main" id="{F42EA8AF-60CA-8F2D-129A-F30AF00A907E}"/>
              </a:ext>
            </a:extLst>
          </p:cNvPr>
          <p:cNvSpPr txBox="1"/>
          <p:nvPr/>
        </p:nvSpPr>
        <p:spPr>
          <a:xfrm>
            <a:off x="965290" y="1838312"/>
            <a:ext cx="6369576" cy="3046988"/>
          </a:xfrm>
          <a:prstGeom prst="rect">
            <a:avLst/>
          </a:prstGeom>
          <a:noFill/>
        </p:spPr>
        <p:txBody>
          <a:bodyPr wrap="square" rtlCol="0">
            <a:spAutoFit/>
          </a:bodyPr>
          <a:lstStyle/>
          <a:p>
            <a:pPr latinLnBrk="1"/>
            <a:r>
              <a:rPr lang="en-IN" sz="1600" dirty="0">
                <a:latin typeface="Calibri" panose="020F0502020204030204" pitchFamily="34" charset="0"/>
                <a:ea typeface="Calibri" panose="020F0502020204030204" pitchFamily="34" charset="0"/>
                <a:cs typeface="Calibri" panose="020F0502020204030204" pitchFamily="34" charset="0"/>
              </a:rPr>
              <a:t>   Open  High   Low   Close   Inflation  country          ISO3     date</a:t>
            </a:r>
          </a:p>
          <a:p>
            <a:pPr latinLnBrk="1"/>
            <a:r>
              <a:rPr lang="en-IN" sz="1600" dirty="0">
                <a:latin typeface="Calibri" panose="020F0502020204030204" pitchFamily="34" charset="0"/>
                <a:ea typeface="Calibri" panose="020F0502020204030204" pitchFamily="34" charset="0"/>
                <a:cs typeface="Calibri" panose="020F0502020204030204" pitchFamily="34" charset="0"/>
              </a:rPr>
              <a:t>    0.53   0.54    0.53   0.53      NA         Afghanistan   AFG     2007-01-01</a:t>
            </a:r>
          </a:p>
          <a:p>
            <a:pPr latinLnBrk="1"/>
            <a:r>
              <a:rPr lang="en-IN" sz="1600" dirty="0">
                <a:latin typeface="Calibri" panose="020F0502020204030204" pitchFamily="34" charset="0"/>
                <a:ea typeface="Calibri" panose="020F0502020204030204" pitchFamily="34" charset="0"/>
                <a:cs typeface="Calibri" panose="020F0502020204030204" pitchFamily="34" charset="0"/>
              </a:rPr>
              <a:t>    0.53   0.54    0.53   0.53      NA         Afghanistan   AFG     2007-02-01</a:t>
            </a:r>
          </a:p>
          <a:p>
            <a:pPr latinLnBrk="1"/>
            <a:r>
              <a:rPr lang="en-IN" sz="1600" dirty="0">
                <a:latin typeface="Calibri" panose="020F0502020204030204" pitchFamily="34" charset="0"/>
                <a:ea typeface="Calibri" panose="020F0502020204030204" pitchFamily="34" charset="0"/>
                <a:cs typeface="Calibri" panose="020F0502020204030204" pitchFamily="34" charset="0"/>
              </a:rPr>
              <a:t>    0.54   0.54    0.53   0.53      NA         Afghanistan   AFG     2007-03-01</a:t>
            </a:r>
          </a:p>
          <a:p>
            <a:pPr latinLnBrk="1"/>
            <a:r>
              <a:rPr lang="en-IN" sz="1600" dirty="0">
                <a:latin typeface="Calibri" panose="020F0502020204030204" pitchFamily="34" charset="0"/>
                <a:ea typeface="Calibri" panose="020F0502020204030204" pitchFamily="34" charset="0"/>
                <a:cs typeface="Calibri" panose="020F0502020204030204" pitchFamily="34" charset="0"/>
              </a:rPr>
              <a:t>    0.53   0.55    0.53   0.55      NA         Afghanistan   AFG     2007-04-01</a:t>
            </a:r>
          </a:p>
          <a:p>
            <a:pPr latinLnBrk="1"/>
            <a:r>
              <a:rPr lang="en-IN" sz="1600" dirty="0">
                <a:latin typeface="Calibri" panose="020F0502020204030204" pitchFamily="34" charset="0"/>
                <a:ea typeface="Calibri" panose="020F0502020204030204" pitchFamily="34" charset="0"/>
                <a:cs typeface="Calibri" panose="020F0502020204030204" pitchFamily="34" charset="0"/>
              </a:rPr>
              <a:t>    0.56   0.57    0.56   0.57      NA         Afghanistan   AFG     2007-05-01</a:t>
            </a:r>
          </a:p>
          <a:p>
            <a:pPr latinLnBrk="1"/>
            <a:r>
              <a:rPr lang="en-IN" sz="1600" dirty="0">
                <a:latin typeface="Calibri" panose="020F0502020204030204" pitchFamily="34" charset="0"/>
                <a:ea typeface="Calibri" panose="020F0502020204030204" pitchFamily="34" charset="0"/>
                <a:cs typeface="Calibri" panose="020F0502020204030204" pitchFamily="34" charset="0"/>
              </a:rPr>
              <a:t>    0.59   0.60    0.58   0.58      NA         Afghanistan   AFG     2007-06-01</a:t>
            </a:r>
          </a:p>
          <a:p>
            <a:pPr latinLnBrk="1"/>
            <a:r>
              <a:rPr lang="en-IN" sz="1600" dirty="0">
                <a:latin typeface="Calibri" panose="020F0502020204030204" pitchFamily="34" charset="0"/>
                <a:ea typeface="Calibri" panose="020F0502020204030204" pitchFamily="34" charset="0"/>
                <a:cs typeface="Calibri" panose="020F0502020204030204" pitchFamily="34" charset="0"/>
              </a:rPr>
              <a:t>    0.59   0.60    0.59   0.59      NA         Afghanistan   AFG     2007-07-01</a:t>
            </a:r>
          </a:p>
          <a:p>
            <a:pPr latinLnBrk="1"/>
            <a:r>
              <a:rPr lang="en-IN" sz="1600" dirty="0">
                <a:latin typeface="Calibri" panose="020F0502020204030204" pitchFamily="34" charset="0"/>
                <a:ea typeface="Calibri" panose="020F0502020204030204" pitchFamily="34" charset="0"/>
                <a:cs typeface="Calibri" panose="020F0502020204030204" pitchFamily="34" charset="0"/>
              </a:rPr>
              <a:t>    0.60   0.60    0.59   0.59      NA         Afghanistan   AFG     2007-08-01</a:t>
            </a:r>
          </a:p>
          <a:p>
            <a:pPr latinLnBrk="1"/>
            <a:r>
              <a:rPr lang="en-IN" sz="1600" dirty="0">
                <a:latin typeface="Calibri" panose="020F0502020204030204" pitchFamily="34" charset="0"/>
                <a:ea typeface="Calibri" panose="020F0502020204030204" pitchFamily="34" charset="0"/>
                <a:cs typeface="Calibri" panose="020F0502020204030204" pitchFamily="34" charset="0"/>
              </a:rPr>
              <a:t>    0.60   0.62    0.59   0.62      NA         Afghanistan   AFG     2007-09-01</a:t>
            </a:r>
          </a:p>
          <a:p>
            <a:pPr latinLnBrk="1"/>
            <a:r>
              <a:rPr lang="en-IN" sz="1600" dirty="0">
                <a:latin typeface="Calibri" panose="020F0502020204030204" pitchFamily="34" charset="0"/>
                <a:ea typeface="Calibri" panose="020F0502020204030204" pitchFamily="34" charset="0"/>
                <a:cs typeface="Calibri" panose="020F0502020204030204" pitchFamily="34" charset="0"/>
              </a:rPr>
              <a:t>    0.64  0.64    0.63   0.63       NA         Afghanistan   AFG     2007-10-01</a:t>
            </a:r>
          </a:p>
          <a:p>
            <a:endParaRPr lang="en-IN" sz="1600" dirty="0">
              <a:latin typeface="Calibri" panose="020F0502020204030204" pitchFamily="34" charset="0"/>
              <a:ea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7814C53D-9292-30B8-F0D3-04E6437FCADA}"/>
              </a:ext>
            </a:extLst>
          </p:cNvPr>
          <p:cNvSpPr txBox="1"/>
          <p:nvPr/>
        </p:nvSpPr>
        <p:spPr>
          <a:xfrm>
            <a:off x="965289" y="4813065"/>
            <a:ext cx="5968180" cy="369332"/>
          </a:xfrm>
          <a:prstGeom prst="rect">
            <a:avLst/>
          </a:prstGeom>
          <a:noFill/>
        </p:spPr>
        <p:txBody>
          <a:bodyPr wrap="square" rtlCol="0">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Our Dataset has 4798 rows and 8 columns.</a:t>
            </a:r>
          </a:p>
        </p:txBody>
      </p:sp>
    </p:spTree>
    <p:extLst>
      <p:ext uri="{BB962C8B-B14F-4D97-AF65-F5344CB8AC3E}">
        <p14:creationId xmlns:p14="http://schemas.microsoft.com/office/powerpoint/2010/main" val="713092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285092"/>
            <a:ext cx="10110240" cy="588024"/>
          </a:xfrm>
        </p:spPr>
        <p:txBody>
          <a:bodyPr vert="horz" lIns="0" tIns="0" rIns="0" bIns="0" rtlCol="0" anchor="t">
            <a:noAutofit/>
          </a:bodyPr>
          <a:lstStyle/>
          <a:p>
            <a:r>
              <a:rPr lang="en-US" sz="2200" dirty="0">
                <a:solidFill>
                  <a:srgbClr val="FF0000"/>
                </a:solidFill>
                <a:latin typeface="Calibri" panose="020F0502020204030204" pitchFamily="34" charset="0"/>
                <a:ea typeface="Calibri" panose="020F0502020204030204" pitchFamily="34" charset="0"/>
                <a:cs typeface="Calibri" panose="020F0502020204030204" pitchFamily="34" charset="0"/>
              </a:rPr>
              <a:t>Dataset ID: </a:t>
            </a:r>
            <a:r>
              <a:rPr lang="en-US" sz="2200" dirty="0">
                <a:solidFill>
                  <a:schemeClr val="tx1"/>
                </a:solidFill>
                <a:latin typeface="Calibri" panose="020F0502020204030204" pitchFamily="34" charset="0"/>
                <a:ea typeface="Calibri" panose="020F0502020204030204" pitchFamily="34" charset="0"/>
                <a:cs typeface="Calibri" panose="020F0502020204030204" pitchFamily="34" charset="0"/>
              </a:rPr>
              <a:t>DS243</a:t>
            </a:r>
            <a:r>
              <a:rPr lang="en-US" sz="2200" dirty="0">
                <a:solidFill>
                  <a:srgbClr val="FF0000"/>
                </a:solidFill>
                <a:latin typeface="Calibri" panose="020F0502020204030204" pitchFamily="34" charset="0"/>
                <a:ea typeface="Calibri" panose="020F0502020204030204" pitchFamily="34" charset="0"/>
                <a:cs typeface="Calibri" panose="020F0502020204030204" pitchFamily="34" charset="0"/>
              </a:rPr>
              <a:t>     File Name:  </a:t>
            </a:r>
            <a:r>
              <a:rPr lang="en-US" sz="2200" dirty="0">
                <a:latin typeface="Calibri" panose="020F0502020204030204" pitchFamily="34" charset="0"/>
                <a:ea typeface="Calibri" panose="020F0502020204030204" pitchFamily="34" charset="0"/>
                <a:cs typeface="Calibri" panose="020F0502020204030204" pitchFamily="34" charset="0"/>
              </a:rPr>
              <a:t>WLD_RTFP_country_2023-10-02.csv</a:t>
            </a:r>
            <a:endParaRPr lang="en-US" sz="22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91022"/>
            <a:ext cx="9129687" cy="230832"/>
          </a:xfrm>
        </p:spPr>
        <p:txBody>
          <a:bodyPr/>
          <a:lstStyle/>
          <a:p>
            <a:r>
              <a:rPr lang="en-GB" dirty="0">
                <a:latin typeface="Calibri" panose="020F0502020204030204" pitchFamily="34" charset="0"/>
                <a:ea typeface="Calibri" panose="020F0502020204030204" pitchFamily="34" charset="0"/>
                <a:cs typeface="Calibri" panose="020F0502020204030204" pitchFamily="34" charset="0"/>
              </a:rPr>
              <a:t>7COM1079-2025  Student Group No: A 83                    Names of Student Group Attendees: </a:t>
            </a:r>
          </a:p>
        </p:txBody>
      </p:sp>
      <p:sp>
        <p:nvSpPr>
          <p:cNvPr id="9" name="TextBox 8">
            <a:extLst>
              <a:ext uri="{FF2B5EF4-FFF2-40B4-BE49-F238E27FC236}">
                <a16:creationId xmlns:a16="http://schemas.microsoft.com/office/drawing/2014/main" id="{DD32051B-BEB6-A960-309F-9118420E96C1}"/>
              </a:ext>
            </a:extLst>
          </p:cNvPr>
          <p:cNvSpPr txBox="1"/>
          <p:nvPr/>
        </p:nvSpPr>
        <p:spPr>
          <a:xfrm>
            <a:off x="965288" y="2069432"/>
            <a:ext cx="10777533" cy="2862322"/>
          </a:xfrm>
          <a:prstGeom prst="rect">
            <a:avLst/>
          </a:prstGeom>
          <a:noFill/>
        </p:spPr>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This dataset is interesting to us because it provides monthly estimates of food prices across countries, including opening, closing, highs, lows, and inflation trends.</a:t>
            </a:r>
          </a:p>
          <a:p>
            <a:endParaRPr lang="en-US"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Independent Variable: Country</a:t>
            </a:r>
          </a:p>
          <a:p>
            <a:r>
              <a:rPr lang="en-US" dirty="0">
                <a:latin typeface="Calibri" panose="020F0502020204030204" pitchFamily="34" charset="0"/>
                <a:ea typeface="Calibri" panose="020F0502020204030204" pitchFamily="34" charset="0"/>
                <a:cs typeface="Calibri" panose="020F0502020204030204" pitchFamily="34" charset="0"/>
              </a:rPr>
              <a:t>Datatype: Categorical(Nominal)</a:t>
            </a:r>
          </a:p>
          <a:p>
            <a:r>
              <a:rPr lang="en-US" dirty="0">
                <a:latin typeface="Calibri" panose="020F0502020204030204" pitchFamily="34" charset="0"/>
                <a:ea typeface="Calibri" panose="020F0502020204030204" pitchFamily="34" charset="0"/>
                <a:cs typeface="Calibri" panose="020F0502020204030204" pitchFamily="34" charset="0"/>
              </a:rPr>
              <a:t>Description: Because it represents different countries as distinct groups</a:t>
            </a:r>
          </a:p>
          <a:p>
            <a:endParaRPr lang="en-US"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Dependent Variable: Close</a:t>
            </a:r>
          </a:p>
          <a:p>
            <a:r>
              <a:rPr lang="en-IN" dirty="0">
                <a:latin typeface="Calibri" panose="020F0502020204030204" pitchFamily="34" charset="0"/>
                <a:ea typeface="Calibri" panose="020F0502020204030204" pitchFamily="34" charset="0"/>
                <a:cs typeface="Calibri" panose="020F0502020204030204" pitchFamily="34" charset="0"/>
              </a:rPr>
              <a:t>Datatype: Interval</a:t>
            </a:r>
          </a:p>
          <a:p>
            <a:r>
              <a:rPr lang="en-IN" dirty="0">
                <a:latin typeface="Calibri" panose="020F0502020204030204" pitchFamily="34" charset="0"/>
                <a:ea typeface="Calibri" panose="020F0502020204030204" pitchFamily="34" charset="0"/>
                <a:cs typeface="Calibri" panose="020F0502020204030204" pitchFamily="34" charset="0"/>
              </a:rPr>
              <a:t>Description: It is a numeric value that can be measured and compared.</a:t>
            </a:r>
          </a:p>
        </p:txBody>
      </p:sp>
    </p:spTree>
    <p:extLst>
      <p:ext uri="{BB962C8B-B14F-4D97-AF65-F5344CB8AC3E}">
        <p14:creationId xmlns:p14="http://schemas.microsoft.com/office/powerpoint/2010/main" val="171800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354110"/>
            <a:ext cx="9753625" cy="230832"/>
          </a:xfrm>
        </p:spPr>
        <p:txBody>
          <a:bodyPr/>
          <a:lstStyle/>
          <a:p>
            <a:pPr>
              <a:spcAft>
                <a:spcPts val="0"/>
              </a:spcAft>
            </a:pPr>
            <a:r>
              <a:rPr lang="en-GB" dirty="0">
                <a:latin typeface="Calibri" panose="020F0502020204030204" pitchFamily="34" charset="0"/>
                <a:ea typeface="Calibri" panose="020F0502020204030204" pitchFamily="34" charset="0"/>
                <a:cs typeface="Calibri" panose="020F0502020204030204" pitchFamily="34" charset="0"/>
              </a:rPr>
              <a:t>Our Research Question is</a:t>
            </a:r>
            <a:endParaRPr lang="en-GB" sz="18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latin typeface="Calibri" panose="020F0502020204030204" pitchFamily="34" charset="0"/>
                <a:ea typeface="Calibri" panose="020F0502020204030204" pitchFamily="34" charset="0"/>
                <a:cs typeface="Calibri" panose="020F0502020204030204" pitchFamily="34" charset="0"/>
              </a:rPr>
              <a:t>PRE 7COM1079-2025  Student Group No: A 83</a:t>
            </a:r>
          </a:p>
        </p:txBody>
      </p:sp>
      <p:sp>
        <p:nvSpPr>
          <p:cNvPr id="9" name="TextBox 8">
            <a:extLst>
              <a:ext uri="{FF2B5EF4-FFF2-40B4-BE49-F238E27FC236}">
                <a16:creationId xmlns:a16="http://schemas.microsoft.com/office/drawing/2014/main" id="{67A0278C-6785-6886-5636-A921337CC7CC}"/>
              </a:ext>
            </a:extLst>
          </p:cNvPr>
          <p:cNvSpPr txBox="1"/>
          <p:nvPr/>
        </p:nvSpPr>
        <p:spPr>
          <a:xfrm>
            <a:off x="965289" y="2045110"/>
            <a:ext cx="10273911" cy="1846659"/>
          </a:xfrm>
          <a:prstGeom prst="rect">
            <a:avLst/>
          </a:prstGeom>
          <a:noFill/>
        </p:spPr>
        <p:txBody>
          <a:bodyPr wrap="square" rtlCol="0">
            <a:spAutoFit/>
          </a:bodyPr>
          <a:lstStyle/>
          <a:p>
            <a:r>
              <a:rPr lang="en-IE" sz="2000" dirty="0">
                <a:latin typeface="Calibri" panose="020F0502020204030204" pitchFamily="34" charset="0"/>
                <a:ea typeface="Calibri" panose="020F0502020204030204" pitchFamily="34" charset="0"/>
                <a:cs typeface="Calibri" panose="020F0502020204030204" pitchFamily="34" charset="0"/>
              </a:rPr>
              <a:t>Research Question: </a:t>
            </a:r>
            <a:r>
              <a:rPr lang="en-IE" sz="2000" b="1" dirty="0">
                <a:latin typeface="Calibri" panose="020F0502020204030204" pitchFamily="34" charset="0"/>
                <a:ea typeface="Calibri" panose="020F0502020204030204" pitchFamily="34" charset="0"/>
                <a:cs typeface="Calibri" panose="020F0502020204030204" pitchFamily="34" charset="0"/>
              </a:rPr>
              <a:t> </a:t>
            </a:r>
            <a:r>
              <a:rPr lang="en-US" sz="2000" b="1" dirty="0">
                <a:latin typeface="Calibri" panose="020F0502020204030204" pitchFamily="34" charset="0"/>
                <a:ea typeface="Calibri" panose="020F0502020204030204" pitchFamily="34" charset="0"/>
                <a:cs typeface="Calibri" panose="020F0502020204030204" pitchFamily="34" charset="0"/>
              </a:rPr>
              <a:t>“Is there a difference in the mean Close food price value among different countries?”</a:t>
            </a:r>
            <a:br>
              <a:rPr lang="en-US" sz="2000" dirty="0">
                <a:latin typeface="Calibri" panose="020F0502020204030204" pitchFamily="34" charset="0"/>
                <a:ea typeface="Calibri" panose="020F0502020204030204" pitchFamily="34" charset="0"/>
                <a:cs typeface="Calibri" panose="020F0502020204030204" pitchFamily="34" charset="0"/>
              </a:rPr>
            </a:br>
            <a:br>
              <a:rPr lang="en-US" sz="2000"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The closing food price varies between countries. Some countries have higher prices while others have lower. So, the Close food price depends on the country and we want to see if there is a difference in average food prices across countries.</a:t>
            </a:r>
            <a:endParaRPr lang="en-IN" dirty="0"/>
          </a:p>
        </p:txBody>
      </p:sp>
    </p:spTree>
    <p:extLst>
      <p:ext uri="{BB962C8B-B14F-4D97-AF65-F5344CB8AC3E}">
        <p14:creationId xmlns:p14="http://schemas.microsoft.com/office/powerpoint/2010/main" val="32494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1A13081-35AF-4CA6-78BA-5AF79654D2C6}"/>
              </a:ext>
            </a:extLst>
          </p:cNvPr>
          <p:cNvSpPr txBox="1"/>
          <p:nvPr/>
        </p:nvSpPr>
        <p:spPr>
          <a:xfrm>
            <a:off x="1012723" y="1042219"/>
            <a:ext cx="10451690" cy="3330399"/>
          </a:xfrm>
          <a:prstGeom prst="rect">
            <a:avLst/>
          </a:prstGeom>
          <a:noFill/>
        </p:spPr>
        <p:txBody>
          <a:bodyPr wrap="square" rtlCol="0">
            <a:spAutoFit/>
          </a:bodyPr>
          <a:lstStyle/>
          <a:p>
            <a:pPr>
              <a:lnSpc>
                <a:spcPct val="200000"/>
              </a:lnSpc>
            </a:pPr>
            <a:r>
              <a:rPr lang="en-US" b="1" dirty="0">
                <a:latin typeface="Calibri" panose="020F0502020204030204" pitchFamily="34" charset="0"/>
                <a:ea typeface="Calibri" panose="020F0502020204030204" pitchFamily="34" charset="0"/>
                <a:cs typeface="Calibri" panose="020F0502020204030204" pitchFamily="34" charset="0"/>
              </a:rPr>
              <a:t>Hypotheses:</a:t>
            </a:r>
          </a:p>
          <a:p>
            <a:pPr>
              <a:lnSpc>
                <a:spcPct val="200000"/>
              </a:lnSpc>
            </a:pPr>
            <a:r>
              <a:rPr lang="en-US" b="1" dirty="0">
                <a:latin typeface="Calibri" panose="020F0502020204030204" pitchFamily="34" charset="0"/>
                <a:ea typeface="Calibri" panose="020F0502020204030204" pitchFamily="34" charset="0"/>
                <a:cs typeface="Calibri" panose="020F0502020204030204" pitchFamily="34" charset="0"/>
              </a:rPr>
              <a:t>Null Hypothesis (H0):</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There is </a:t>
            </a:r>
            <a:r>
              <a:rPr lang="en-US" b="1" dirty="0">
                <a:latin typeface="Calibri" panose="020F0502020204030204" pitchFamily="34" charset="0"/>
                <a:ea typeface="Calibri" panose="020F0502020204030204" pitchFamily="34" charset="0"/>
                <a:cs typeface="Calibri" panose="020F0502020204030204" pitchFamily="34" charset="0"/>
              </a:rPr>
              <a:t>no</a:t>
            </a:r>
            <a:r>
              <a:rPr lang="en-US" dirty="0">
                <a:latin typeface="Calibri" panose="020F0502020204030204" pitchFamily="34" charset="0"/>
                <a:ea typeface="Calibri" panose="020F0502020204030204" pitchFamily="34" charset="0"/>
                <a:cs typeface="Calibri" panose="020F0502020204030204" pitchFamily="34" charset="0"/>
              </a:rPr>
              <a:t> difference in the mean Close food price between countries.</a:t>
            </a:r>
          </a:p>
          <a:p>
            <a:pPr>
              <a:lnSpc>
                <a:spcPct val="200000"/>
              </a:lnSpc>
            </a:pPr>
            <a:r>
              <a:rPr lang="en-US" b="1" dirty="0">
                <a:latin typeface="Calibri" panose="020F0502020204030204" pitchFamily="34" charset="0"/>
                <a:ea typeface="Calibri" panose="020F0502020204030204" pitchFamily="34" charset="0"/>
                <a:cs typeface="Calibri" panose="020F0502020204030204" pitchFamily="34" charset="0"/>
              </a:rPr>
              <a:t>Alternative Hypothesis (H1):</a:t>
            </a:r>
            <a:br>
              <a:rPr lang="en-US" i="1"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There is a difference in the mean Close food price between countries.</a:t>
            </a:r>
          </a:p>
          <a:p>
            <a:pPr>
              <a:lnSpc>
                <a:spcPct val="200000"/>
              </a:lnSpc>
            </a:pPr>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52338475"/>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3.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72</TotalTime>
  <Words>577</Words>
  <Application>Microsoft Office PowerPoint</Application>
  <PresentationFormat>Widescreen</PresentationFormat>
  <Paragraphs>44</Paragraphs>
  <Slides>5</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Herts Theme</vt:lpstr>
      <vt:lpstr>Research Question –  Monthly Food Price Inflation Date:  26 November 2025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Mahi Jayeshbhai Patel [Student-PECS]</cp:lastModifiedBy>
  <cp:revision>128</cp:revision>
  <dcterms:created xsi:type="dcterms:W3CDTF">2019-10-01T08:37:56Z</dcterms:created>
  <dcterms:modified xsi:type="dcterms:W3CDTF">2025-11-25T02:06:48Z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